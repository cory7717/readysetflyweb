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6576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100584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164592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228600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292608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0" y="356616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420624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4846320"/>
            <a:ext cx="3474720" cy="0"/>
          </a:xfrm>
          <a:prstGeom prst="line">
            <a:avLst/>
          </a:prstGeom>
          <a:noFill/>
          <a:ln w="6350">
            <a:solidFill>
              <a:srgbClr val="E0A02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alphaModFix amt="85000"/>
          </a:blip>
          <a:stretch>
            <a:fillRect/>
          </a:stretch>
        </p:blipFill>
        <p:spPr>
          <a:xfrm>
            <a:off x="640080" y="914400"/>
            <a:ext cx="2194560" cy="21945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82880" y="32918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0B1F3A"/>
                </a:solidFill>
              </a:rPr>
              <a:t>READY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18288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600" kern="0" dirty="0">
                <a:solidFill>
                  <a:srgbClr val="0B1F3A"/>
                </a:solidFill>
              </a:rPr>
              <a:t>SET FLY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3840480" y="7315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4800" b="1">
                <a:solidFill>
                  <a:srgbClr val="FFFFFF"/>
                </a:solidFill>
              </a:rPr>
              <a:t>The Connected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3840480" y="15087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400" b="1">
                <a:solidFill>
                  <a:srgbClr val="F0B429"/>
                </a:solidFill>
              </a:rPr>
              <a:t>Aviation Platform</a:t>
            </a:r>
            <a:endParaRPr lang="en-US" sz="4800" dirty="0"/>
          </a:p>
        </p:txBody>
      </p:sp>
      <p:sp>
        <p:nvSpPr>
          <p:cNvPr id="16" name="Text 13"/>
          <p:cNvSpPr/>
          <p:nvPr/>
        </p:nvSpPr>
        <p:spPr>
          <a:xfrm>
            <a:off x="3840480" y="228600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FFFFFF"/>
                </a:solidFill>
              </a:rPr>
              <a:t>with Marketplace &amp;</a:t>
            </a:r>
            <a:endParaRPr lang="en-US" sz="4800" dirty="0"/>
          </a:p>
        </p:txBody>
      </p:sp>
      <p:sp>
        <p:nvSpPr>
          <p:cNvPr id="17" name="Text 14"/>
          <p:cNvSpPr/>
          <p:nvPr/>
        </p:nvSpPr>
        <p:spPr>
          <a:xfrm>
            <a:off x="3840480" y="306324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sz="3000" b="1">
                <a:solidFill>
                  <a:srgbClr val="FFFFFF"/>
                </a:solidFill>
              </a:rPr>
              <a:t>Pilot Tools Built In.</a:t>
            </a:r>
            <a:endParaRPr lang="en-US" sz="4800" dirty="0"/>
          </a:p>
        </p:txBody>
      </p:sp>
      <p:sp>
        <p:nvSpPr>
          <p:cNvPr id="18" name="Text 15"/>
          <p:cNvSpPr/>
          <p:nvPr/>
        </p:nvSpPr>
        <p:spPr>
          <a:xfrm>
            <a:off x="3840480" y="41148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</a:rPr>
              <a:t>Pre-Seed Investment Opportunity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384048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0B429"/>
                </a:solidFill>
              </a:rPr>
              <a:t>readysetfly.us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THE PROBLEM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Pilots Are Flying Blind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Before They Ever Leave the Ground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320040" y="1691640"/>
            <a:ext cx="2651760" cy="2834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916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828800"/>
            <a:ext cx="411480" cy="4114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Fragmented Tools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Pilots bounce between 5–8 different apps for weather, NOTAMs, flight planning, and comms. Nothing talks to anything else.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00400" y="1691640"/>
            <a:ext cx="2651760" cy="2834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6916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82880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33756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No Unified Marketplace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3756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Aircraft rental &amp; listing is scattered across FBOs, Craigslist, and word-of-mouth. No dedicated GA marketplace exists.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80760" y="1691640"/>
            <a:ext cx="2651760" cy="2834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80760" y="1691640"/>
            <a:ext cx="2651760" cy="45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5352" y="18288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217920" y="23317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Outdated Resources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217920" y="269748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Existing tools are clunky, desktop-first, and built for professionals — not the 800K+ active GA pilots in the US.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One Platform. Every Tool. One Community.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>
                <a:solidFill>
                  <a:srgbClr val="132844"/>
                </a:solidFill>
              </a:rPr>
              <a:t>Ready Set Fly connects marketplace discovery, flight planning, aviation weather, training tools, logbook workflows, and FAA Flight Service capability in one general aviation platform.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2697480"/>
            <a:ext cx="1828800" cy="502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0B1F3A"/>
                </a:solidFill>
              </a:rPr>
              <a:t>MARKETPLACE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377440" y="2697480"/>
            <a:ext cx="182880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69748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0B429"/>
                </a:solidFill>
              </a:rPr>
              <a:t>TOOL HUB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40280" y="2944368"/>
            <a:ext cx="13716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33756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19" i="1">
                <a:solidFill>
                  <a:srgbClr val="94A3B8"/>
                </a:solidFill>
              </a:rPr>
              <a:t>Tools bring pilots in -&gt; pilots stay for workflow depth -&gt; marketplace and subscriptions fund better tools.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09160" y="530352"/>
            <a:ext cx="4069080" cy="43434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59436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F0B429"/>
                </a:solidFill>
              </a:rPr>
              <a:t>PLATFORM TOOLS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846320" y="100584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115568"/>
            <a:ext cx="292608" cy="29260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285232" y="1161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Flight Planner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766560" y="100584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11556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205472" y="116128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 Weather Briefing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4846320" y="187452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84248"/>
            <a:ext cx="292608" cy="29260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285232" y="2029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E6B Calculator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6766560" y="187452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984248"/>
            <a:ext cx="292608" cy="29260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205472" y="202996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Digital Logbook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4846320" y="274320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2852928"/>
            <a:ext cx="292608" cy="29260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285232" y="2898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Radio Comms Trainer</a:t>
            </a:r>
            <a:endParaRPr lang="en-US" sz="900" dirty="0"/>
          </a:p>
        </p:txBody>
      </p:sp>
      <p:sp>
        <p:nvSpPr>
          <p:cNvPr id="31" name="Shape 24"/>
          <p:cNvSpPr/>
          <p:nvPr/>
        </p:nvSpPr>
        <p:spPr>
          <a:xfrm>
            <a:off x="6766560" y="274320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852928"/>
            <a:ext cx="292608" cy="29260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7205472" y="28986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 b="1">
                <a:solidFill>
                  <a:srgbClr val="FFFFFF"/>
                </a:solidFill>
              </a:rPr>
              <a:t>Flight Service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4846320" y="361188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3721608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5285232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CFI Directory</a:t>
            </a:r>
            <a:endParaRPr lang="en-US" sz="900" dirty="0"/>
          </a:p>
        </p:txBody>
      </p:sp>
      <p:sp>
        <p:nvSpPr>
          <p:cNvPr id="37" name="Shape 28"/>
          <p:cNvSpPr/>
          <p:nvPr/>
        </p:nvSpPr>
        <p:spPr>
          <a:xfrm>
            <a:off x="6766560" y="3611880"/>
            <a:ext cx="1691640" cy="68580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3721608"/>
            <a:ext cx="292608" cy="292608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7205472" y="37673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Aircraft Marketplace</a:t>
            </a:r>
            <a:endParaRPr lang="en-US" sz="900" dirty="0"/>
          </a:p>
        </p:txBody>
      </p:sp>
      <p:sp>
        <p:nvSpPr>
          <p:cNvPr id="40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Massive, Underserved Market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800K+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Active GA Pilots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Per FAA — United States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$6.4B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 Market Size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Annual US market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180K+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GA Aircraft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Available/registered US fleet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98448"/>
            <a:ext cx="19659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98448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43560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0B429"/>
                </a:solidFill>
              </a:rPr>
              <a:t>$2.1B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19842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Aircraft Rental TAM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258568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Addressable opportunity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926080"/>
            <a:ext cx="8503920" cy="169164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3035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</a:rPr>
              <a:t>Why Now?</a:t>
            </a:r>
            <a:endParaRPr lang="en-US" sz="1200" dirty="0"/>
          </a:p>
        </p:txBody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429000"/>
            <a:ext cx="228600" cy="22860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822960" y="342900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Post-COVID pilot surge — student pilot certifications up 28% since 2020</a:t>
            </a:r>
            <a:endParaRPr lang="en-US" sz="1000" dirty="0"/>
          </a:p>
        </p:txBody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76472"/>
            <a:ext cx="228600" cy="228600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822960" y="377647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Mobile-first pilots expect integrated digital experiences — legacy tools haven't adapted</a:t>
            </a:r>
            <a:endParaRPr lang="en-US" sz="1000" dirty="0"/>
          </a:p>
        </p:txBody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23944"/>
            <a:ext cx="228600" cy="2286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22960" y="41239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</a:rPr>
              <a:t>No dominant GA marketplace platform exists — the space is wide open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TRACTION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30352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Early Signals Are Strong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3600" b="1">
                <a:solidFill>
                  <a:srgbClr val="F0B429"/>
                </a:solidFill>
              </a:rPr>
              <a:t>4,300+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0B1F3A"/>
                </a:solidFill>
              </a:rPr>
              <a:t>Early Visitor Signals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>
                <a:solidFill>
                  <a:srgbClr val="94A3B8"/>
                </a:solidFill>
              </a:rPr>
              <a:t>Launch traffic + engagement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0604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3600" b="1">
                <a:solidFill>
                  <a:srgbClr val="F0B429"/>
                </a:solidFill>
              </a:rPr>
              <a:t>30K+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56032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0B1F3A"/>
                </a:solidFill>
              </a:rPr>
              <a:t>Tracked Events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56032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>
                <a:solidFill>
                  <a:srgbClr val="94A3B8"/>
                </a:solidFill>
              </a:rPr>
              <a:t>Tool + marketplace activity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1772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3600" b="1">
                <a:solidFill>
                  <a:srgbClr val="F0B429"/>
                </a:solidFill>
              </a:rPr>
              <a:t>V&amp;V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70916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950" b="1">
                <a:solidFill>
                  <a:srgbClr val="0B1F3A"/>
                </a:solidFill>
              </a:rPr>
              <a:t>Flight Service Stage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916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>
                <a:solidFill>
                  <a:srgbClr val="94A3B8"/>
                </a:solidFill>
              </a:rPr>
              <a:t>Independent testing next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766560" y="1261872"/>
            <a:ext cx="196596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261872"/>
            <a:ext cx="196596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03720" y="13990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3600" b="1">
                <a:solidFill>
                  <a:srgbClr val="F0B429"/>
                </a:solidFill>
              </a:rPr>
              <a:t>Live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6858000" y="194767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000" b="1">
                <a:solidFill>
                  <a:srgbClr val="0B1F3A"/>
                </a:solidFill>
              </a:rPr>
              <a:t>Platform Status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0" y="2221992"/>
            <a:ext cx="1783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>
                <a:solidFill>
                  <a:srgbClr val="94A3B8"/>
                </a:solidFill>
              </a:rPr>
              <a:t>Web + mobile ecosystem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907792"/>
            <a:ext cx="5303520" cy="173736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2907792"/>
            <a:ext cx="5303520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01752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960120" y="30358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200" b="1">
                <a:solidFill>
                  <a:srgbClr val="FFFFFF"/>
                </a:solidFill>
              </a:rPr>
              <a:t>August 2026 Investor Update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02920" y="3401568"/>
            <a:ext cx="4937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60">
                <a:solidFill>
                  <a:srgbClr val="CBD5E1"/>
                </a:solidFill>
              </a:rPr>
              <a:t>RSF has moved from early tool adoption into a broader connected GA workflow. The platform is live, pilot tools are deployed, and FAA Flight Service capability is built in the test environment as RSF prepares for independent V&amp;V and production progression.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5806440" y="2907792"/>
            <a:ext cx="3017520" cy="1737360"/>
          </a:xfrm>
          <a:prstGeom prst="rect">
            <a:avLst/>
          </a:prstGeom>
          <a:solidFill>
            <a:srgbClr val="EEF3F9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5989320" y="29992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Platform Status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5943600" y="333756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0B1F3A"/>
                </a:solidFill>
              </a:rPr>
              <a:t>✓  Web platform live (React / Express / PG)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5943600" y="35387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0B1F3A"/>
                </a:solidFill>
              </a:rPr>
              <a:t>✓  Mobile app + subscription system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5943600" y="3739896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0B1F3A"/>
                </a:solidFill>
              </a:rPr>
              <a:t>✓  Flight Planner + live aviation data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5943600" y="394106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60">
                <a:solidFill>
                  <a:srgbClr val="94A3B8"/>
                </a:solidFill>
              </a:rPr>
              <a:t>✓  FAA Flight Service integration in validation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5943600" y="41422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94A3B8"/>
                </a:solidFill>
              </a:rPr>
              <a:t>✓  Digital Logbook + Pro tiers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5943600" y="4343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94A3B8"/>
                </a:solidFill>
              </a:rPr>
              <a:t>✓  Marketplace + CFI workflows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PRODUCT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Two Engines. One Platform.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34440"/>
            <a:ext cx="4069080" cy="356616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234440"/>
            <a:ext cx="406908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</a:rPr>
              <a:t>Aircraft Marketplace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9202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7724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FFFFFF"/>
                </a:solidFill>
              </a:rPr>
              <a:t>List &amp; Rent Aircraft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77724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CBD5E1"/>
                </a:solidFill>
              </a:rPr>
              <a:t>Free to list; transaction model planned</a:t>
            </a:r>
            <a:endParaRPr lang="en-US" sz="90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560320"/>
            <a:ext cx="228600" cy="2286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77240" y="2542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FFFFFF"/>
                </a:solidFill>
              </a:rPr>
              <a:t>Verified pilot community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77724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CBD5E1"/>
                </a:solidFill>
              </a:rPr>
              <a:t>Profiles, logbook, and ratings context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228600" cy="228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77240" y="3182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FFFFFF"/>
                </a:solidFill>
              </a:rPr>
              <a:t>Rental workflow monetization</a:t>
            </a:r>
            <a:endParaRPr lang="en-US" sz="1000" dirty="0"/>
          </a:p>
        </p:txBody>
      </p:sp>
      <p:sp>
        <p:nvSpPr>
          <p:cNvPr id="19" name="Text 13"/>
          <p:cNvSpPr/>
          <p:nvPr/>
        </p:nvSpPr>
        <p:spPr>
          <a:xfrm>
            <a:off x="77724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CBD5E1"/>
                </a:solidFill>
              </a:rPr>
              <a:t>Commission on completed rentals</a:t>
            </a:r>
            <a:endParaRPr lang="en-US" sz="9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40480"/>
            <a:ext cx="228600" cy="2286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77240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FFFFFF"/>
                </a:solidFill>
              </a:rPr>
              <a:t>Marketplace expansion</a:t>
            </a:r>
            <a:endParaRPr lang="en-US" sz="1000" dirty="0"/>
          </a:p>
        </p:txBody>
      </p:sp>
      <p:sp>
        <p:nvSpPr>
          <p:cNvPr id="22" name="Text 15"/>
          <p:cNvSpPr/>
          <p:nvPr/>
        </p:nvSpPr>
        <p:spPr>
          <a:xfrm>
            <a:off x="77724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CBD5E1"/>
                </a:solidFill>
              </a:rPr>
              <a:t>Owners, CFIs, schools, and services</a:t>
            </a:r>
            <a:endParaRPr lang="en-US" sz="900" dirty="0"/>
          </a:p>
        </p:txBody>
      </p:sp>
      <p:sp>
        <p:nvSpPr>
          <p:cNvPr id="23" name="Shape 16"/>
          <p:cNvSpPr/>
          <p:nvPr/>
        </p:nvSpPr>
        <p:spPr>
          <a:xfrm>
            <a:off x="4754880" y="1234440"/>
            <a:ext cx="4069080" cy="356616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4754880" y="1234440"/>
            <a:ext cx="4069080" cy="457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1371600"/>
            <a:ext cx="365760" cy="36576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349240" y="138988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0B429"/>
                </a:solidFill>
              </a:rPr>
              <a:t>Pilot Tool Hub</a:t>
            </a:r>
            <a:endParaRPr lang="en-US" sz="1500" dirty="0"/>
          </a:p>
        </p:txBody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2040" y="1920240"/>
            <a:ext cx="228600" cy="22860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5212080" y="190195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FFFFFF"/>
                </a:solidFill>
              </a:rPr>
              <a:t>Flight Planner + E6B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5212080" y="2121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CBD5E1"/>
                </a:solidFill>
              </a:rPr>
              <a:t>Full pre-flight workflow in one place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92040" y="2560320"/>
            <a:ext cx="228600" cy="2286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5212080" y="254203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 b="1">
                <a:solidFill>
                  <a:srgbClr val="FFFFFF"/>
                </a:solidFill>
              </a:rPr>
              <a:t>FAA Flight Service Integration</a:t>
            </a:r>
            <a:endParaRPr lang="en-US" sz="1000" dirty="0"/>
          </a:p>
        </p:txBody>
      </p:sp>
      <p:sp>
        <p:nvSpPr>
          <p:cNvPr id="32" name="Text 22"/>
          <p:cNvSpPr/>
          <p:nvPr/>
        </p:nvSpPr>
        <p:spPr>
          <a:xfrm>
            <a:off x="521208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CBD5E1"/>
                </a:solidFill>
              </a:rPr>
              <a:t>Built; test and validation stage</a:t>
            </a:r>
            <a:endParaRPr lang="en-US" sz="900" dirty="0"/>
          </a:p>
        </p:txBody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92040" y="3200400"/>
            <a:ext cx="228600" cy="228600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5212080" y="318211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 b="1">
                <a:solidFill>
                  <a:srgbClr val="FFFFFF"/>
                </a:solidFill>
              </a:rPr>
              <a:t>AI Weather &amp; NOTAM Intelligence</a:t>
            </a:r>
            <a:endParaRPr lang="en-US" sz="1000" dirty="0"/>
          </a:p>
        </p:txBody>
      </p:sp>
      <p:sp>
        <p:nvSpPr>
          <p:cNvPr id="35" name="Text 24"/>
          <p:cNvSpPr/>
          <p:nvPr/>
        </p:nvSpPr>
        <p:spPr>
          <a:xfrm>
            <a:off x="5212080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00">
                <a:solidFill>
                  <a:srgbClr val="CBD5E1"/>
                </a:solidFill>
              </a:rPr>
              <a:t>Plain-English decoding and live data</a:t>
            </a:r>
            <a:endParaRPr lang="en-US" sz="9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92040" y="3840480"/>
            <a:ext cx="228600" cy="22860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5212080" y="3822192"/>
            <a:ext cx="3383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000" b="1">
                <a:solidFill>
                  <a:srgbClr val="FFFFFF"/>
                </a:solidFill>
              </a:rPr>
              <a:t>Logbook + Training Workflows</a:t>
            </a:r>
            <a:endParaRPr lang="en-US" sz="1000" dirty="0"/>
          </a:p>
        </p:txBody>
      </p:sp>
      <p:sp>
        <p:nvSpPr>
          <p:cNvPr id="38" name="Text 26"/>
          <p:cNvSpPr/>
          <p:nvPr/>
        </p:nvSpPr>
        <p:spPr>
          <a:xfrm>
            <a:off x="5212080" y="4041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50">
                <a:solidFill>
                  <a:srgbClr val="CBD5E1"/>
                </a:solidFill>
              </a:rPr>
              <a:t>Pro tools for pilots, CFIs, and students</a:t>
            </a:r>
            <a:endParaRPr lang="en-US" sz="900" dirty="0"/>
          </a:p>
        </p:txBody>
      </p:sp>
      <p:sp>
        <p:nvSpPr>
          <p:cNvPr id="39" name="Text 27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Multiple Revenue Streams,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</a:rPr>
              <a:t>Built for Scale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66420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66420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773936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737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Marketplace Fees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14400" y="1993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30">
                <a:solidFill>
                  <a:srgbClr val="94A3B8"/>
                </a:solidFill>
              </a:rPr>
              <a:t>Free-to-list rental supply with RSF monetizing completed transactions, promoted listings, and marketplace activity.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337560" y="173736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337560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700" b="1">
                <a:solidFill>
                  <a:srgbClr val="FFFFFF"/>
                </a:solidFill>
              </a:rPr>
              <a:t>ACTIVE</a:t>
            </a:r>
            <a:endParaRPr lang="en-US" sz="700" dirty="0"/>
          </a:p>
        </p:txBody>
      </p:sp>
      <p:sp>
        <p:nvSpPr>
          <p:cNvPr id="14" name="Shape 11"/>
          <p:cNvSpPr/>
          <p:nvPr/>
        </p:nvSpPr>
        <p:spPr>
          <a:xfrm>
            <a:off x="320040" y="276148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0040" y="276148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871216"/>
            <a:ext cx="320040" cy="32004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Pro Subscription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91440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19">
                <a:solidFill>
                  <a:srgbClr val="94A3B8"/>
                </a:solidFill>
              </a:rPr>
              <a:t>Core and Pro+ tiers for logbook analytics, saved planning workflows, alerts, and advanced pilot tools.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3337560" y="283464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333756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21" name="Shape 17"/>
          <p:cNvSpPr/>
          <p:nvPr/>
        </p:nvSpPr>
        <p:spPr>
          <a:xfrm>
            <a:off x="320040" y="385876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320040" y="385876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968496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914400" y="393192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CFI &amp; School Tiers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914400" y="418795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30">
                <a:solidFill>
                  <a:srgbClr val="94A3B8"/>
                </a:solidFill>
              </a:rPr>
              <a:t>Training workflows and professional tools for CFIs, students, and school/operator use cases.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3337560" y="393192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337560" y="3931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28" name="Shape 23"/>
          <p:cNvSpPr/>
          <p:nvPr/>
        </p:nvSpPr>
        <p:spPr>
          <a:xfrm>
            <a:off x="4754880" y="166420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4754880" y="166420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1773936"/>
            <a:ext cx="320040" cy="3200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349240" y="173736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Banner Advertising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5349240" y="199339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30">
                <a:solidFill>
                  <a:srgbClr val="94A3B8"/>
                </a:solidFill>
              </a:rPr>
              <a:t>Aviation-focused placements for insurance, avionics, training, and other GA-adjacent advertisers.</a:t>
            </a:r>
            <a:endParaRPr lang="en-US" sz="900" dirty="0"/>
          </a:p>
        </p:txBody>
      </p:sp>
      <p:sp>
        <p:nvSpPr>
          <p:cNvPr id="33" name="Shape 27"/>
          <p:cNvSpPr/>
          <p:nvPr/>
        </p:nvSpPr>
        <p:spPr>
          <a:xfrm>
            <a:off x="7772400" y="1737360"/>
            <a:ext cx="914400" cy="23774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7772400" y="173736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LIVE</a:t>
            </a:r>
            <a:endParaRPr lang="en-US" sz="700" dirty="0"/>
          </a:p>
        </p:txBody>
      </p:sp>
      <p:sp>
        <p:nvSpPr>
          <p:cNvPr id="35" name="Shape 29"/>
          <p:cNvSpPr/>
          <p:nvPr/>
        </p:nvSpPr>
        <p:spPr>
          <a:xfrm>
            <a:off x="4754880" y="2761488"/>
            <a:ext cx="40690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754880" y="2761488"/>
            <a:ext cx="54864" cy="9601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9472" y="2871216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349240" y="283464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1100" b="1">
                <a:solidFill>
                  <a:srgbClr val="0B1F3A"/>
                </a:solidFill>
              </a:rPr>
              <a:t>Strategic Relationships</a:t>
            </a:r>
            <a:endParaRPr lang="en-US" sz="1100" dirty="0"/>
          </a:p>
        </p:txBody>
      </p:sp>
      <p:sp>
        <p:nvSpPr>
          <p:cNvPr id="39" name="Text 32"/>
          <p:cNvSpPr/>
          <p:nvPr/>
        </p:nvSpPr>
        <p:spPr>
          <a:xfrm>
            <a:off x="5349240" y="309067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10">
                <a:solidFill>
                  <a:srgbClr val="94A3B8"/>
                </a:solidFill>
              </a:rPr>
              <a:t>Aviation data, service-provider, CFI, flight-school, FBO, and association relationship opportunities.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7772400" y="2834640"/>
            <a:ext cx="914400" cy="23774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7772400" y="283464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FFFFFF"/>
                </a:solidFill>
              </a:rPr>
              <a:t>ROADMAP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COMPETITIVE LANDSCAPE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475488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2400" b="1">
                <a:solidFill>
                  <a:srgbClr val="FFFFFF"/>
                </a:solidFill>
              </a:rPr>
              <a:t>Different From Single-Purpose</a:t>
            </a:r>
            <a:endParaRPr lang="en-US" sz="2400" dirty="0"/>
          </a:p>
          <a:p>
            <a:pPr/>
            <a:r>
              <a:rPr sz="2400" b="1">
                <a:solidFill>
                  <a:srgbClr val="FFFFFF"/>
                </a:solidFill>
              </a:rPr>
              <a:t>Aviation Tools</a:t>
            </a:r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237744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536192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1536192"/>
            <a:ext cx="1463040" cy="365760"/>
          </a:xfrm>
          <a:prstGeom prst="rect">
            <a:avLst/>
          </a:prstGeom>
          <a:solidFill>
            <a:srgbClr val="F0B429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F3A"/>
                </a:solidFill>
              </a:rPr>
              <a:t>Ready Set Fly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60520" y="1536192"/>
            <a:ext cx="146304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6052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ForeFlight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1536192"/>
            <a:ext cx="146304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5361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CloudAhoy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86600" y="1536192"/>
            <a:ext cx="1417320" cy="36576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1536192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Aircraft.com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190195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019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Flight Planning Tools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697480" y="190195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1901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160520" y="190195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1901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23560" y="190195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23560" y="19019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086600" y="190195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19019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20040" y="2313432"/>
            <a:ext cx="23774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3134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Aircraft Marketplace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97480" y="231343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480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160520" y="231343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60520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5623560" y="231343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3134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7086600" y="2313432"/>
            <a:ext cx="141732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86600" y="23134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20040" y="272491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72491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AI Weather / NOTAM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697480" y="272491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697480" y="2724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160520" y="272491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0520" y="2724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5623560" y="272491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23560" y="272491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7086600" y="272491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086600" y="272491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20040" y="3136392"/>
            <a:ext cx="23774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313639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CFI / Training Tools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2697480" y="313639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697480" y="3136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160520" y="313639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60520" y="3136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5623560" y="313639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623560" y="3136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7086600" y="3136392"/>
            <a:ext cx="141732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86600" y="313639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20040" y="354787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20040" y="35478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Logbook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697480" y="354787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697480" y="3547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4160520" y="354787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160520" y="3547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63" name="Shape 61"/>
          <p:cNvSpPr/>
          <p:nvPr/>
        </p:nvSpPr>
        <p:spPr>
          <a:xfrm>
            <a:off x="5623560" y="354787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623560" y="354787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65" name="Shape 63"/>
          <p:cNvSpPr/>
          <p:nvPr/>
        </p:nvSpPr>
        <p:spPr>
          <a:xfrm>
            <a:off x="7086600" y="354787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086600" y="354787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67" name="Shape 65"/>
          <p:cNvSpPr/>
          <p:nvPr/>
        </p:nvSpPr>
        <p:spPr>
          <a:xfrm>
            <a:off x="320040" y="3959352"/>
            <a:ext cx="23774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20040" y="395935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Free Tier Available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697480" y="395935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2697480" y="39593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71" name="Shape 69"/>
          <p:cNvSpPr/>
          <p:nvPr/>
        </p:nvSpPr>
        <p:spPr>
          <a:xfrm>
            <a:off x="4160520" y="395935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160520" y="39593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5623560" y="3959352"/>
            <a:ext cx="146304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23560" y="395935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7086600" y="3959352"/>
            <a:ext cx="1417320" cy="411480"/>
          </a:xfrm>
          <a:prstGeom prst="rect">
            <a:avLst/>
          </a:prstGeom>
          <a:solidFill>
            <a:srgbClr val="132844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086600" y="395935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77" name="Shape 75"/>
          <p:cNvSpPr/>
          <p:nvPr/>
        </p:nvSpPr>
        <p:spPr>
          <a:xfrm>
            <a:off x="320040" y="4370832"/>
            <a:ext cx="23774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20040" y="437083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</a:rPr>
              <a:t>Single Integrated Hub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2697480" y="4370832"/>
            <a:ext cx="1463040" cy="411480"/>
          </a:xfrm>
          <a:prstGeom prst="rect">
            <a:avLst/>
          </a:prstGeom>
          <a:solidFill>
            <a:srgbClr val="1A3658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269748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✓</a:t>
            </a:r>
            <a:endParaRPr lang="en-US" sz="1400" dirty="0"/>
          </a:p>
        </p:txBody>
      </p:sp>
      <p:sp>
        <p:nvSpPr>
          <p:cNvPr id="81" name="Shape 79"/>
          <p:cNvSpPr/>
          <p:nvPr/>
        </p:nvSpPr>
        <p:spPr>
          <a:xfrm>
            <a:off x="4160520" y="437083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16052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5623560" y="4370832"/>
            <a:ext cx="146304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5623560" y="437083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7086600" y="4370832"/>
            <a:ext cx="1417320" cy="411480"/>
          </a:xfrm>
          <a:prstGeom prst="rect">
            <a:avLst/>
          </a:prstGeom>
          <a:solidFill>
            <a:srgbClr val="0B1F3A"/>
          </a:solidFill>
          <a:ln w="12700">
            <a:solidFill>
              <a:srgbClr val="1A3658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086600" y="4370832"/>
            <a:ext cx="1417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</a:rPr>
              <a:t>✗</a:t>
            </a:r>
            <a:endParaRPr lang="en-US" sz="1400" dirty="0"/>
          </a:p>
        </p:txBody>
      </p:sp>
      <p:sp>
        <p:nvSpPr>
          <p:cNvPr id="87" name="Text 85"/>
          <p:cNvSpPr/>
          <p:nvPr/>
        </p:nvSpPr>
        <p:spPr>
          <a:xfrm>
            <a:off x="411480" y="457200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10" i="1">
                <a:solidFill>
                  <a:srgbClr val="94A3B8"/>
                </a:solidFill>
              </a:rPr>
              <a:t>RSF differentiates itself by combining marketplace discovery with an integrated pilot-tool and workflow ecosystem - not by trying to replace single-purpose EFB or listing platforms.</a:t>
            </a:r>
            <a:endParaRPr lang="en-US" sz="950" dirty="0"/>
          </a:p>
        </p:txBody>
      </p:sp>
      <p:sp>
        <p:nvSpPr>
          <p:cNvPr id="88" name="Text 8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3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GO-TO-MARKET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8321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</a:rPr>
              <a:t>Flywheel Growth Strategy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20040" y="1298448"/>
            <a:ext cx="269748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298448"/>
            <a:ext cx="2697480" cy="54864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01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Tool-Led Acquisition</a:t>
            </a:r>
            <a:endParaRPr lang="en-US" sz="11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" y="1993392"/>
            <a:ext cx="201168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58952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CBD5E1"/>
                </a:solidFill>
              </a:rPr>
              <a:t>Free tools introduce pilots to RSF</a:t>
            </a:r>
            <a:endParaRPr lang="en-US" sz="95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" y="2743200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58952" y="27157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High-intent aviation searches feed discovery</a:t>
            </a:r>
            <a:endParaRPr lang="en-US" sz="95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" y="3493008"/>
            <a:ext cx="201168" cy="20116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8952" y="34655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Post-tool-use sign-up nudge supports conversion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200400" y="1298448"/>
            <a:ext cx="269748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200400" y="1298448"/>
            <a:ext cx="2697480" cy="548640"/>
          </a:xfrm>
          <a:prstGeom prst="rect">
            <a:avLst/>
          </a:prstGeom>
          <a:solidFill>
            <a:srgbClr val="7CB9E8"/>
          </a:solidFill>
          <a:ln w="12700">
            <a:solidFill>
              <a:srgbClr val="7CB9E8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3756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02</a:t>
            </a:r>
            <a:endParaRPr lang="en-US" sz="2200" dirty="0"/>
          </a:p>
        </p:txBody>
      </p:sp>
      <p:sp>
        <p:nvSpPr>
          <p:cNvPr id="20" name="Text 15"/>
          <p:cNvSpPr/>
          <p:nvPr/>
        </p:nvSpPr>
        <p:spPr>
          <a:xfrm>
            <a:off x="384048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Community &amp; CFI Channel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993392"/>
            <a:ext cx="201168" cy="20116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639312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CBD5E1"/>
                </a:solidFill>
              </a:rPr>
              <a:t>CFIs and pilots validate real workflow needs</a:t>
            </a:r>
            <a:endParaRPr lang="en-US" sz="95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992" y="2743200"/>
            <a:ext cx="201168" cy="20116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639312" y="27157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Instructors bring students into tools &amp; logbook</a:t>
            </a:r>
            <a:endParaRPr lang="en-US" sz="950" dirty="0"/>
          </a:p>
        </p:txBody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4992" y="3493008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3639312" y="34655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Schools and operators create expansion channels</a:t>
            </a:r>
            <a:endParaRPr lang="en-US" sz="950" dirty="0"/>
          </a:p>
        </p:txBody>
      </p:sp>
      <p:sp>
        <p:nvSpPr>
          <p:cNvPr id="27" name="Shape 19"/>
          <p:cNvSpPr/>
          <p:nvPr/>
        </p:nvSpPr>
        <p:spPr>
          <a:xfrm>
            <a:off x="6080760" y="1298448"/>
            <a:ext cx="2697480" cy="3429000"/>
          </a:xfrm>
          <a:prstGeom prst="rect">
            <a:avLst/>
          </a:prstGeom>
          <a:solidFill>
            <a:srgbClr val="0B1F3A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080760" y="1298448"/>
            <a:ext cx="2697480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217920" y="134416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</a:rPr>
              <a:t>03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6720840" y="1389888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</a:rPr>
              <a:t>Marketplace Network Effects</a:t>
            </a:r>
            <a:endParaRPr lang="en-US" sz="1100" dirty="0"/>
          </a:p>
        </p:txBody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5352" y="1993392"/>
            <a:ext cx="201168" cy="201168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6519672" y="19659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950">
                <a:solidFill>
                  <a:srgbClr val="CBD5E1"/>
                </a:solidFill>
              </a:rPr>
              <a:t>Rental listings attract pilot demand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45352" y="2743200"/>
            <a:ext cx="201168" cy="201168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19672" y="2715768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Workflow depth drives repeat platform use</a:t>
            </a:r>
            <a:endParaRPr lang="en-US" sz="95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45352" y="3493008"/>
            <a:ext cx="201168" cy="20116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6519672" y="3465576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80">
                <a:solidFill>
                  <a:srgbClr val="CBD5E1"/>
                </a:solidFill>
              </a:rPr>
              <a:t>Flight Service adds retention to planning flow</a:t>
            </a:r>
            <a:endParaRPr lang="en-US" sz="950" dirty="0"/>
          </a:p>
        </p:txBody>
      </p:sp>
      <p:sp>
        <p:nvSpPr>
          <p:cNvPr id="37" name="Shape 26"/>
          <p:cNvSpPr/>
          <p:nvPr/>
        </p:nvSpPr>
        <p:spPr>
          <a:xfrm>
            <a:off x="3017520" y="2651760"/>
            <a:ext cx="18288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38" name="Shape 27"/>
          <p:cNvSpPr/>
          <p:nvPr/>
        </p:nvSpPr>
        <p:spPr>
          <a:xfrm>
            <a:off x="5897880" y="2651760"/>
            <a:ext cx="182880" cy="0"/>
          </a:xfrm>
          <a:prstGeom prst="line">
            <a:avLst/>
          </a:prstGeom>
          <a:noFill/>
          <a:ln w="25400">
            <a:solidFill>
              <a:srgbClr val="F0B429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411480" y="48006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19" i="1">
                <a:solidFill>
                  <a:srgbClr val="94A3B8"/>
                </a:solidFill>
              </a:rPr>
              <a:t>Each phase reinforces the next - tools bring pilots in, workflow depth builds trust, marketplace activity expands revenue.</a:t>
            </a:r>
            <a:endParaRPr lang="en-US" sz="900" dirty="0"/>
          </a:p>
        </p:txBody>
      </p:sp>
      <p:sp>
        <p:nvSpPr>
          <p:cNvPr id="40" name="Text 2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371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B1F3A"/>
                </a:solidFill>
              </a:rPr>
              <a:t>THE ASK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502920"/>
            <a:ext cx="8321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0B429"/>
                </a:solidFill>
              </a:rPr>
              <a:t>Pre-Seed Round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320040" y="1261872"/>
            <a:ext cx="3657600" cy="164592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4173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5200" b="1">
                <a:solidFill>
                  <a:srgbClr val="0B1F3A"/>
                </a:solidFill>
              </a:rPr>
              <a:t>$500K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320040" y="21762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50" b="1">
                <a:solidFill>
                  <a:srgbClr val="132844"/>
                </a:solidFill>
              </a:rPr>
              <a:t>OPEN PRE-SEED ROUND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51960" y="1261872"/>
            <a:ext cx="4572000" cy="16459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34840" y="1353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</a:rPr>
              <a:t>Use of Funds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173736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173736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 b="1">
                <a:solidFill>
                  <a:srgbClr val="0B1F3A"/>
                </a:solidFill>
              </a:rPr>
              <a:t>25%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919472" y="173736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80">
                <a:solidFill>
                  <a:srgbClr val="CBD5E1"/>
                </a:solidFill>
              </a:rPr>
              <a:t>FAA Flight Service V&amp;V &amp; production progression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434840" y="201168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201168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 b="1">
                <a:solidFill>
                  <a:srgbClr val="0B1F3A"/>
                </a:solidFill>
              </a:rPr>
              <a:t>30%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919472" y="2011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80">
                <a:solidFill>
                  <a:srgbClr val="CBD5E1"/>
                </a:solidFill>
              </a:rPr>
              <a:t>Product, engineering, reliability &amp; infrastructure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34840" y="228600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34840" y="22860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 b="1">
                <a:solidFill>
                  <a:srgbClr val="0B1F3A"/>
                </a:solidFill>
              </a:rPr>
              <a:t>25%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919472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80">
                <a:solidFill>
                  <a:srgbClr val="CBD5E1"/>
                </a:solidFill>
              </a:rPr>
              <a:t>Pilot acquisition, subscriptions &amp; marketplace growth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434840" y="2560320"/>
            <a:ext cx="411480" cy="219456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34840" y="256032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800" b="1">
                <a:solidFill>
                  <a:srgbClr val="0B1F3A"/>
                </a:solidFill>
              </a:rPr>
              <a:t>20%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919472" y="25603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780">
                <a:solidFill>
                  <a:srgbClr val="CBD5E1"/>
                </a:solidFill>
              </a:rPr>
              <a:t>Operations, compliance, legal &amp; runway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3090672"/>
            <a:ext cx="8503920" cy="173736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18211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B429"/>
                </a:solidFill>
              </a:rPr>
              <a:t>12-Month Milestones</a:t>
            </a:r>
            <a:endParaRPr lang="en-US" sz="12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611880"/>
            <a:ext cx="228600" cy="228600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758952" y="362102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58952" y="3621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750" b="1">
                <a:solidFill>
                  <a:srgbClr val="0B1F3A"/>
                </a:solidFill>
              </a:rPr>
              <a:t>Q3 2026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463040" y="3602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00">
                <a:solidFill>
                  <a:srgbClr val="CBD5E1"/>
                </a:solidFill>
              </a:rPr>
              <a:t>Independent V&amp;V scope finalized; test matrix executed</a:t>
            </a:r>
            <a:endParaRPr lang="en-US" sz="900" dirty="0"/>
          </a:p>
        </p:txBody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60520"/>
            <a:ext cx="228600" cy="228600"/>
          </a:xfrm>
          <a:prstGeom prst="rect">
            <a:avLst/>
          </a:prstGeom>
        </p:spPr>
      </p:pic>
      <p:sp>
        <p:nvSpPr>
          <p:cNvPr id="31" name="Shape 27"/>
          <p:cNvSpPr/>
          <p:nvPr/>
        </p:nvSpPr>
        <p:spPr>
          <a:xfrm>
            <a:off x="758952" y="416966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8952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750" b="1">
                <a:solidFill>
                  <a:srgbClr val="0B1F3A"/>
                </a:solidFill>
              </a:rPr>
              <a:t>Q4 2026</a:t>
            </a:r>
            <a:endParaRPr lang="en-US" sz="750" dirty="0"/>
          </a:p>
        </p:txBody>
      </p:sp>
      <p:sp>
        <p:nvSpPr>
          <p:cNvPr id="33" name="Text 29"/>
          <p:cNvSpPr/>
          <p:nvPr/>
        </p:nvSpPr>
        <p:spPr>
          <a:xfrm>
            <a:off x="1463040" y="41513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00">
                <a:solidFill>
                  <a:srgbClr val="CBD5E1"/>
                </a:solidFill>
              </a:rPr>
              <a:t>Findings remediated; production package submitted</a:t>
            </a:r>
            <a:endParaRPr lang="en-US" sz="900" dirty="0"/>
          </a:p>
        </p:txBody>
      </p:sp>
      <p:pic>
        <p:nvPicPr>
          <p:cNvPr id="3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3611880"/>
            <a:ext cx="228600" cy="228600"/>
          </a:xfrm>
          <a:prstGeom prst="rect">
            <a:avLst/>
          </a:prstGeom>
        </p:spPr>
      </p:pic>
      <p:sp>
        <p:nvSpPr>
          <p:cNvPr id="35" name="Shape 30"/>
          <p:cNvSpPr/>
          <p:nvPr/>
        </p:nvSpPr>
        <p:spPr>
          <a:xfrm>
            <a:off x="5010912" y="362102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5010912" y="362102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750" b="1">
                <a:solidFill>
                  <a:srgbClr val="0B1F3A"/>
                </a:solidFill>
              </a:rPr>
              <a:t>Q1 2027</a:t>
            </a:r>
            <a:endParaRPr lang="en-US" sz="750" dirty="0"/>
          </a:p>
        </p:txBody>
      </p:sp>
      <p:sp>
        <p:nvSpPr>
          <p:cNvPr id="37" name="Text 32"/>
          <p:cNvSpPr/>
          <p:nvPr/>
        </p:nvSpPr>
        <p:spPr>
          <a:xfrm>
            <a:off x="5715000" y="36027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00">
                <a:solidFill>
                  <a:srgbClr val="CBD5E1"/>
                </a:solidFill>
              </a:rPr>
              <a:t>Pilot growth, subscription conversion &amp; rental activity</a:t>
            </a:r>
            <a:endParaRPr lang="en-US" sz="9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160520"/>
            <a:ext cx="228600" cy="228600"/>
          </a:xfrm>
          <a:prstGeom prst="rect">
            <a:avLst/>
          </a:prstGeom>
        </p:spPr>
      </p:pic>
      <p:sp>
        <p:nvSpPr>
          <p:cNvPr id="39" name="Shape 33"/>
          <p:cNvSpPr/>
          <p:nvPr/>
        </p:nvSpPr>
        <p:spPr>
          <a:xfrm>
            <a:off x="5010912" y="4169664"/>
            <a:ext cx="658368" cy="201168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5010912" y="416966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750" b="1">
                <a:solidFill>
                  <a:srgbClr val="0B1F3A"/>
                </a:solidFill>
              </a:rPr>
              <a:t>Q2 2027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5715000" y="41513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sz="800">
                <a:solidFill>
                  <a:srgbClr val="CBD5E1"/>
                </a:solidFill>
              </a:rPr>
              <a:t>Strategic aviation relationships and infrastructure scale-up</a:t>
            </a:r>
            <a:endParaRPr lang="en-US" sz="900" dirty="0"/>
          </a:p>
        </p:txBody>
      </p:sp>
      <p:sp>
        <p:nvSpPr>
          <p:cNvPr id="42" name="Text 3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300" kern="0" dirty="0">
                <a:solidFill>
                  <a:srgbClr val="F0B429"/>
                </a:solidFill>
              </a:rPr>
              <a:t>READY SET FLY ·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23960" y="0"/>
            <a:ext cx="320040" cy="5143500"/>
          </a:xfrm>
          <a:prstGeom prst="rect">
            <a:avLst/>
          </a:prstGeom>
          <a:solidFill>
            <a:srgbClr val="F0B429"/>
          </a:solidFill>
          <a:ln w="12700">
            <a:solidFill>
              <a:srgbClr val="F0B429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3474720" y="36576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50292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800" b="1">
                <a:solidFill>
                  <a:srgbClr val="FFFFFF"/>
                </a:solidFill>
              </a:rPr>
              <a:t>The Connected Aviation Platform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2800" b="1">
                <a:solidFill>
                  <a:srgbClr val="F0B429"/>
                </a:solidFill>
              </a:rPr>
              <a:t>with Marketplace &amp; Pilot Tools Built In.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2286000" y="1920240"/>
            <a:ext cx="4572000" cy="0"/>
          </a:xfrm>
          <a:prstGeom prst="line">
            <a:avLst/>
          </a:prstGeom>
          <a:noFill/>
          <a:ln w="19050">
            <a:solidFill>
              <a:srgbClr val="F0B42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21031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sz="1330" i="1">
                <a:solidFill>
                  <a:srgbClr val="CBD5E1"/>
                </a:solidFill>
              </a:rPr>
              <a:t>Pilots deserve a platform that connects the work they already do.</a:t>
            </a:r>
            <a:endParaRPr lang="en-US" sz="1400" dirty="0"/>
          </a:p>
          <a:p>
            <a:pPr algn="ctr"/>
            <a:r>
              <a:rPr sz="1330" i="1">
                <a:solidFill>
                  <a:srgbClr val="CBD5E1"/>
                </a:solidFill>
              </a:rPr>
              <a:t>RSF is building that ecosystem - and this round moves it into its next stage.</a:t>
            </a:r>
          </a:p>
        </p:txBody>
      </p:sp>
      <p:sp>
        <p:nvSpPr>
          <p:cNvPr id="9" name="Shape 6"/>
          <p:cNvSpPr/>
          <p:nvPr/>
        </p:nvSpPr>
        <p:spPr>
          <a:xfrm>
            <a:off x="2560320" y="3200400"/>
            <a:ext cx="4023360" cy="1417320"/>
          </a:xfrm>
          <a:prstGeom prst="rect">
            <a:avLst/>
          </a:prstGeom>
          <a:solidFill>
            <a:srgbClr val="1A3658"/>
          </a:solidFill>
          <a:ln w="12700">
            <a:solidFill>
              <a:srgbClr val="13284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560320" y="331012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0B429"/>
                </a:solidFill>
              </a:rPr>
              <a:t>Ready Set Fly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560320" y="370332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readysetfly.us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560320" y="40233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Pre-Seed Round Open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RSF – Investor Pitch Deck</dc:title>
  <dc:subject>PptxGenJS Presentation</dc:subject>
  <dc:creator>Ready Set Fly</dc:creator>
  <cp:lastModifiedBy>Ready Set Fly</cp:lastModifiedBy>
  <cp:revision>1</cp:revision>
  <dcterms:created xsi:type="dcterms:W3CDTF">2026-03-12T16:26:14Z</dcterms:created>
  <dcterms:modified xsi:type="dcterms:W3CDTF">2026-03-12T16:26:14Z</dcterms:modified>
</cp:coreProperties>
</file>